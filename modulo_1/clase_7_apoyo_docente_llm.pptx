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9184"/>
            <a:ext cx="1746504" cy="310896"/>
          </a:xfrm>
          <a:prstGeom prst="roundRect">
            <a:avLst/>
          </a:prstGeom>
          <a:solidFill>
            <a:srgbClr val="F7E8E2"/>
          </a:solidFill>
          <a:ln>
            <a:solidFill>
              <a:srgbClr val="F7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746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B75D3F"/>
                </a:solidFill>
                <a:latin typeface="Aptos"/>
              </a:defRPr>
            </a:pPr>
            <a:r>
              <a:t>APOYO DOCENTE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3262D"/>
                </a:solidFill>
                <a:latin typeface="Aptos Display"/>
              </a:defRPr>
            </a:pPr>
            <a:r>
              <a:t>Clase 7 | LLMs sin magia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06675"/>
                </a:solidFill>
                <a:latin typeface="Aptos"/>
              </a:defRPr>
            </a:pPr>
            <a:r>
              <a:t>Apoyo docente rediseñado para explicar con escenas, comparaciones y flujo visual.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2834640" cy="1920240"/>
          </a:xfrm>
          <a:prstGeom prst="roundRect">
            <a:avLst/>
          </a:prstGeom>
          <a:solidFill>
            <a:srgbClr val="F7E8E2"/>
          </a:solidFill>
          <a:ln w="15240">
            <a:solidFill>
              <a:srgbClr val="B75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677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100" b="1">
                <a:solidFill>
                  <a:srgbClr val="B75D3F"/>
                </a:solidFill>
                <a:latin typeface="Aptos"/>
              </a:defRPr>
            </a:pPr>
            <a:r>
              <a:t>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23262D"/>
                </a:solidFill>
                <a:latin typeface="Aptos"/>
              </a:defRPr>
            </a:pPr>
            <a:r>
              <a:t>lo que el modelo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23262D"/>
                </a:solidFill>
                <a:latin typeface="Aptos"/>
              </a:defRPr>
            </a:pPr>
            <a:r>
              <a:t>ve en ese paso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965960"/>
            <a:ext cx="2834640" cy="1920240"/>
          </a:xfrm>
          <a:prstGeom prst="roundRect">
            <a:avLst/>
          </a:prstGeom>
          <a:solidFill>
            <a:srgbClr val="E0F5F2"/>
          </a:solidFill>
          <a:ln w="15240">
            <a:solidFill>
              <a:srgbClr val="23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2677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100" b="1">
                <a:solidFill>
                  <a:srgbClr val="237873"/>
                </a:solidFill>
                <a:latin typeface="Aptos"/>
              </a:defRPr>
            </a:pPr>
            <a:r>
              <a:t>PROXIMO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23262D"/>
                </a:solidFill>
                <a:latin typeface="Aptos"/>
              </a:defRPr>
            </a:pPr>
            <a:r>
              <a:t>elige una opcion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23262D"/>
                </a:solidFill>
                <a:latin typeface="Aptos"/>
              </a:defRPr>
            </a:pPr>
            <a:r>
              <a:t>por probabilidad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965960"/>
            <a:ext cx="2834640" cy="1920240"/>
          </a:xfrm>
          <a:prstGeom prst="roundRect">
            <a:avLst/>
          </a:prstGeom>
          <a:solidFill>
            <a:srgbClr val="FBF3D6"/>
          </a:solidFill>
          <a:ln w="15240">
            <a:solidFill>
              <a:srgbClr val="CE9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19" y="22677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100" b="1">
                <a:solidFill>
                  <a:srgbClr val="CE9C31"/>
                </a:solidFill>
                <a:latin typeface="Aptos"/>
              </a:defRPr>
            </a:pPr>
            <a:r>
              <a:t>NUEVO CONTEXTO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23262D"/>
                </a:solidFill>
                <a:latin typeface="Aptos"/>
              </a:defRPr>
            </a:pPr>
            <a:r>
              <a:t>la salida vuelve a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23262D"/>
                </a:solidFill>
                <a:latin typeface="Aptos"/>
              </a:defRPr>
            </a:pPr>
            <a:r>
              <a:t>alimentar el ciclo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57860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606675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57860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606675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389120"/>
            <a:ext cx="1014984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663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700" b="0">
                <a:solidFill>
                  <a:srgbClr val="23262D"/>
                </a:solidFill>
                <a:latin typeface="Aptos"/>
              </a:defRPr>
            </a:pPr>
            <a:r>
              <a:t>Idea-fuerza para decir en voz alta: un LLM no responde por magia. Repite una pregunta muy simple muchas veces: que viene despues?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606675"/>
                </a:solidFill>
                <a:latin typeface="Aptos"/>
              </a:defRPr>
            </a:pPr>
            <a:r>
              <a:t>Abrir la clase señalando este loop y volver a el durante toda la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9184"/>
            <a:ext cx="1325880" cy="310896"/>
          </a:xfrm>
          <a:prstGeom prst="roundRect">
            <a:avLst/>
          </a:prstGeom>
          <a:solidFill>
            <a:srgbClr val="F7E8E2"/>
          </a:solidFill>
          <a:ln>
            <a:solidFill>
              <a:srgbClr val="F7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B75D3F"/>
                </a:solidFill>
                <a:latin typeface="Aptos"/>
              </a:defRPr>
            </a:pPr>
            <a:r>
              <a:t>INTUICION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3262D"/>
                </a:solidFill>
                <a:latin typeface="Aptos Display"/>
              </a:defRPr>
            </a:pPr>
            <a:r>
              <a:t>La imagen correcta: un autocomplete probabilistico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06675"/>
                </a:solidFill>
                <a:latin typeface="Aptos"/>
              </a:defRPr>
            </a:pPr>
            <a:r>
              <a:t>Una escena simple para reemplazar la idea de caja magica.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469880" cy="960120"/>
          </a:xfrm>
          <a:prstGeom prst="roundRect">
            <a:avLst/>
          </a:prstGeom>
          <a:solidFill>
            <a:srgbClr val="F7E8E2"/>
          </a:solidFill>
          <a:ln w="15240">
            <a:solidFill>
              <a:srgbClr val="B75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012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600" b="1">
                <a:solidFill>
                  <a:srgbClr val="B75D3F"/>
                </a:solidFill>
                <a:latin typeface="Aptos"/>
              </a:defRPr>
            </a:pPr>
            <a:r>
              <a:t>el mate se toma con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08960"/>
            <a:ext cx="2578608" cy="1554480"/>
          </a:xfrm>
          <a:prstGeom prst="roundRect">
            <a:avLst/>
          </a:prstGeom>
          <a:solidFill>
            <a:srgbClr val="E0F5F2"/>
          </a:solidFill>
          <a:ln w="15240">
            <a:solidFill>
              <a:srgbClr val="23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310128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23262D"/>
                </a:solidFill>
                <a:latin typeface="Aptos"/>
              </a:defRPr>
            </a:pPr>
            <a:r>
              <a:t>agua caliente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749039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606675"/>
                </a:solidFill>
                <a:latin typeface="Aptos"/>
              </a:defRPr>
            </a:pPr>
            <a:r>
              <a:t>55%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24712" y="4160520"/>
            <a:ext cx="2066543" cy="164592"/>
          </a:xfrm>
          <a:prstGeom prst="roundRect">
            <a:avLst/>
          </a:prstGeom>
          <a:solidFill>
            <a:srgbClr val="F9F5EC"/>
          </a:solidFill>
          <a:ln>
            <a:solidFill>
              <a:srgbClr val="F9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24712" y="4160520"/>
            <a:ext cx="1136599" cy="164592"/>
          </a:xfrm>
          <a:prstGeom prst="roundRect">
            <a:avLst/>
          </a:prstGeom>
          <a:solidFill>
            <a:srgbClr val="237873"/>
          </a:solidFill>
          <a:ln>
            <a:solidFill>
              <a:srgbClr val="23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93591" y="3108960"/>
            <a:ext cx="2578608" cy="1554480"/>
          </a:xfrm>
          <a:prstGeom prst="roundRect">
            <a:avLst/>
          </a:prstGeom>
          <a:solidFill>
            <a:srgbClr val="E4ECFA"/>
          </a:solidFill>
          <a:ln w="15240">
            <a:solidFill>
              <a:srgbClr val="4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3" y="3310128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23262D"/>
                </a:solidFill>
                <a:latin typeface="Aptos"/>
              </a:defRPr>
            </a:pPr>
            <a:r>
              <a:t>bombilla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3" y="3749039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606675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9624" y="4160520"/>
            <a:ext cx="2066543" cy="164592"/>
          </a:xfrm>
          <a:prstGeom prst="roundRect">
            <a:avLst/>
          </a:prstGeom>
          <a:solidFill>
            <a:srgbClr val="F9F5EC"/>
          </a:solidFill>
          <a:ln>
            <a:solidFill>
              <a:srgbClr val="F9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9624" y="4160520"/>
            <a:ext cx="516635" cy="164592"/>
          </a:xfrm>
          <a:prstGeom prst="roundRect">
            <a:avLst/>
          </a:prstGeom>
          <a:solidFill>
            <a:srgbClr val="4A66AD"/>
          </a:solidFill>
          <a:ln>
            <a:solidFill>
              <a:srgbClr val="4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3108960"/>
            <a:ext cx="2578608" cy="1554480"/>
          </a:xfrm>
          <a:prstGeom prst="roundRect">
            <a:avLst/>
          </a:prstGeom>
          <a:solidFill>
            <a:srgbClr val="FBF3D6"/>
          </a:solidFill>
          <a:ln w="15240">
            <a:solidFill>
              <a:srgbClr val="CE9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3310128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23262D"/>
                </a:solidFill>
                <a:latin typeface="Aptos"/>
              </a:defRPr>
            </a:pPr>
            <a:r>
              <a:t>amigos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749039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606675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160520"/>
            <a:ext cx="2066543" cy="164592"/>
          </a:xfrm>
          <a:prstGeom prst="roundRect">
            <a:avLst/>
          </a:prstGeom>
          <a:solidFill>
            <a:srgbClr val="F9F5EC"/>
          </a:solidFill>
          <a:ln>
            <a:solidFill>
              <a:srgbClr val="F9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74536" y="4160520"/>
            <a:ext cx="206654" cy="164592"/>
          </a:xfrm>
          <a:prstGeom prst="roundRect">
            <a:avLst/>
          </a:prstGeom>
          <a:solidFill>
            <a:srgbClr val="CE9C31"/>
          </a:solidFill>
          <a:ln>
            <a:solidFill>
              <a:srgbClr val="CE9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43415" y="3108960"/>
            <a:ext cx="2578608" cy="1554480"/>
          </a:xfrm>
          <a:prstGeom prst="roundRect">
            <a:avLst/>
          </a:prstGeom>
          <a:solidFill>
            <a:srgbClr val="F9E8E6"/>
          </a:solidFill>
          <a:ln w="15240">
            <a:solidFill>
              <a:srgbClr val="BF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007" y="3310128"/>
            <a:ext cx="2249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23262D"/>
                </a:solidFill>
                <a:latin typeface="Aptos"/>
              </a:defRPr>
            </a:pPr>
            <a:r>
              <a:t>otras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7" y="3749039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606675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9447" y="4160520"/>
            <a:ext cx="2066543" cy="164592"/>
          </a:xfrm>
          <a:prstGeom prst="roundRect">
            <a:avLst/>
          </a:prstGeom>
          <a:solidFill>
            <a:srgbClr val="F9F5EC"/>
          </a:solidFill>
          <a:ln>
            <a:solidFill>
              <a:srgbClr val="F9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9447" y="4160520"/>
            <a:ext cx="206654" cy="164592"/>
          </a:xfrm>
          <a:prstGeom prst="roundRect">
            <a:avLst/>
          </a:prstGeom>
          <a:solidFill>
            <a:srgbClr val="BF5C57"/>
          </a:solidFill>
          <a:ln>
            <a:solidFill>
              <a:srgbClr val="BF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" y="5166360"/>
            <a:ext cx="10378440" cy="777240"/>
          </a:xfrm>
          <a:prstGeom prst="roundRect">
            <a:avLst/>
          </a:prstGeom>
          <a:solidFill>
            <a:srgbClr val="F9F5EC"/>
          </a:solidFill>
          <a:ln w="15240">
            <a:solidFill>
              <a:srgbClr val="F9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413248"/>
            <a:ext cx="9921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0">
                <a:solidFill>
                  <a:srgbClr val="23262D"/>
                </a:solidFill>
                <a:latin typeface="Aptos"/>
              </a:defRPr>
            </a:pPr>
            <a:r>
              <a:t>No adivina ni entiende como una persona: ordena continuaciones posibles y toma una.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606675"/>
                </a:solidFill>
                <a:latin typeface="Aptos"/>
              </a:defRPr>
            </a:pPr>
            <a:r>
              <a:t>Frase util: la sorpresa viene de la escala, no de una tarea base misteriosa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9184"/>
            <a:ext cx="1636776" cy="310896"/>
          </a:xfrm>
          <a:prstGeom prst="roundRect">
            <a:avLst/>
          </a:prstGeom>
          <a:solidFill>
            <a:srgbClr val="F7E8E2"/>
          </a:solidFill>
          <a:ln>
            <a:solidFill>
              <a:srgbClr val="F7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636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B75D3F"/>
                </a:solidFill>
                <a:latin typeface="Aptos"/>
              </a:defRPr>
            </a:pPr>
            <a:r>
              <a:t>TOKENIZACION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3262D"/>
                </a:solidFill>
                <a:latin typeface="Aptos Display"/>
              </a:defRPr>
            </a:pPr>
            <a:r>
              <a:t>Tokenizacion: la misma frase, tres recortes distintos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06675"/>
                </a:solidFill>
                <a:latin typeface="Aptos"/>
              </a:defRPr>
            </a:pPr>
            <a:r>
              <a:t>Mostrar esto antes de definir vocabulario: primero que vean el cambio de piezas.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15468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65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4A66AD"/>
                </a:solidFill>
                <a:latin typeface="Aptos"/>
              </a:defRPr>
            </a:pPr>
            <a:r>
              <a:t>Character-level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938528"/>
            <a:ext cx="1636776" cy="310896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956816"/>
            <a:ext cx="1636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4A66AD"/>
                </a:solidFill>
                <a:latin typeface="Aptos"/>
              </a:defRPr>
            </a:pPr>
            <a:r>
              <a:t>muchos pasos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" y="24688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871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44168" y="24688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24871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37943" y="24688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7943" y="24871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24688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24871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25496" y="24688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5496" y="24871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" y="29260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29443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44168" y="29260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4168" y="29443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37943" y="29260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37943" y="29443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1720" y="29260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1720" y="29443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25496" y="29260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25496" y="29443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" y="33832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34015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44168" y="33832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44168" y="34015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37943" y="33832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37943" y="34015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 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31720" y="33832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31720" y="34015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25496" y="33832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25496" y="34015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392" y="38404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" y="38587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44168" y="38404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44168" y="38587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37943" y="38404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37943" y="38587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31720" y="38404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31720" y="38587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25496" y="38404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25496" y="38587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0392" y="42976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" y="43159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44168" y="42976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44168" y="43159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837943" y="4297680"/>
            <a:ext cx="420624" cy="347472"/>
          </a:xfrm>
          <a:prstGeom prst="round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37943" y="431596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" y="48737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606675"/>
                </a:solidFill>
                <a:latin typeface="Aptos"/>
              </a:defRPr>
            </a:pPr>
            <a:r>
              <a:t>Cantidad: 23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69080" y="1783080"/>
            <a:ext cx="315468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F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33672" y="1965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CE9C31"/>
                </a:solidFill>
                <a:latin typeface="Aptos"/>
              </a:defRPr>
            </a:pPr>
            <a:r>
              <a:t>Word-level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09360" y="1938528"/>
            <a:ext cx="1197864" cy="310896"/>
          </a:xfrm>
          <a:prstGeom prst="roundRect">
            <a:avLst/>
          </a:prstGeom>
          <a:solidFill>
            <a:srgbClr val="FBF3D6"/>
          </a:solidFill>
          <a:ln>
            <a:solidFill>
              <a:srgbClr val="FBF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1956816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CE9C31"/>
                </a:solidFill>
                <a:latin typeface="Aptos"/>
              </a:defRPr>
            </a:pPr>
            <a:r>
              <a:t>2 tokens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33672" y="2468880"/>
            <a:ext cx="1463040" cy="347472"/>
          </a:xfrm>
          <a:prstGeom prst="roundRect">
            <a:avLst/>
          </a:prstGeom>
          <a:solidFill>
            <a:srgbClr val="FBF3D6"/>
          </a:solidFill>
          <a:ln>
            <a:solidFill>
              <a:srgbClr val="FBF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33672" y="24871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inteligencia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33672" y="2926080"/>
            <a:ext cx="1408176" cy="347472"/>
          </a:xfrm>
          <a:prstGeom prst="roundRect">
            <a:avLst/>
          </a:prstGeom>
          <a:solidFill>
            <a:srgbClr val="FBF3D6"/>
          </a:solidFill>
          <a:ln>
            <a:solidFill>
              <a:srgbClr val="FBF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33672" y="2944368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artificial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70248" y="35021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606675"/>
                </a:solidFill>
                <a:latin typeface="Aptos"/>
              </a:defRPr>
            </a:pPr>
            <a:r>
              <a:t>Cantidad: 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52360" y="1783080"/>
            <a:ext cx="315468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16952" y="1965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37873"/>
                </a:solidFill>
                <a:latin typeface="Aptos"/>
              </a:defRPr>
            </a:pPr>
            <a:r>
              <a:t>Subword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92640" y="1938528"/>
            <a:ext cx="1197864" cy="310896"/>
          </a:xfrm>
          <a:prstGeom prst="round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92640" y="1956816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7873"/>
                </a:solidFill>
                <a:latin typeface="Aptos"/>
              </a:defRPr>
            </a:pPr>
            <a:r>
              <a:t>4 tokens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616952" y="2468880"/>
            <a:ext cx="1078992" cy="347472"/>
          </a:xfrm>
          <a:prstGeom prst="round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16952" y="248716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intelig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769096" y="2468880"/>
            <a:ext cx="859536" cy="347472"/>
          </a:xfrm>
          <a:prstGeom prst="round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69096" y="2487168"/>
            <a:ext cx="859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encia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701784" y="2468880"/>
            <a:ext cx="640080" cy="347472"/>
          </a:xfrm>
          <a:prstGeom prst="round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01784" y="248716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art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616952" y="2926080"/>
            <a:ext cx="1078992" cy="347472"/>
          </a:xfrm>
          <a:prstGeom prst="round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16952" y="294436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ificial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53528" y="35021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606675"/>
                </a:solidFill>
                <a:latin typeface="Aptos"/>
              </a:defRPr>
            </a:pPr>
            <a:r>
              <a:t>Cantidad: 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606675"/>
                </a:solidFill>
                <a:latin typeface="Aptos"/>
              </a:defRPr>
            </a:pPr>
            <a:r>
              <a:t>Cierre sugerido: token no siempre significa palabra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E9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9184"/>
            <a:ext cx="1325880" cy="310896"/>
          </a:xfrm>
          <a:prstGeom prst="roundRect">
            <a:avLst/>
          </a:prstGeom>
          <a:solidFill>
            <a:srgbClr val="F7E8E2"/>
          </a:solidFill>
          <a:ln>
            <a:solidFill>
              <a:srgbClr val="F7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B75D3F"/>
                </a:solidFill>
                <a:latin typeface="Aptos"/>
              </a:defRPr>
            </a:pPr>
            <a: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3262D"/>
                </a:solidFill>
                <a:latin typeface="Aptos Display"/>
              </a:defRPr>
            </a:pPr>
            <a:r>
              <a:t>Contexto: lo que si ve cambia mucho la prediccion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06675"/>
                </a:solidFill>
                <a:latin typeface="Aptos"/>
              </a:defRPr>
            </a:pPr>
            <a:r>
              <a:t>Conviene contrastar un contexto rico contra uno casi vacio.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783080"/>
            <a:ext cx="6675120" cy="3200400"/>
          </a:xfrm>
          <a:prstGeom prst="roundRect">
            <a:avLst/>
          </a:prstGeom>
          <a:solidFill>
            <a:srgbClr val="E5F4EB"/>
          </a:solidFill>
          <a:ln w="15240">
            <a:solidFill>
              <a:srgbClr val="429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429162"/>
                </a:solidFill>
                <a:latin typeface="Aptos"/>
              </a:defRPr>
            </a:pPr>
            <a:r>
              <a:t>Contexto rico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2514600"/>
            <a:ext cx="530352" cy="347472"/>
          </a:xfrm>
          <a:prstGeom prst="roundRect">
            <a:avLst/>
          </a:prstGeom>
          <a:solidFill>
            <a:srgbClr val="FBF3D6"/>
          </a:solidFill>
          <a:ln>
            <a:solidFill>
              <a:srgbClr val="FBF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532888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495" y="2514600"/>
            <a:ext cx="1078992" cy="347472"/>
          </a:xfrm>
          <a:prstGeom prst="roundRect">
            <a:avLst/>
          </a:prstGeom>
          <a:solidFill>
            <a:srgbClr val="FBF3D6"/>
          </a:solidFill>
          <a:ln>
            <a:solidFill>
              <a:srgbClr val="FBF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495" y="253288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capital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2514600"/>
            <a:ext cx="530352" cy="347472"/>
          </a:xfrm>
          <a:prstGeom prst="roundRect">
            <a:avLst/>
          </a:prstGeom>
          <a:solidFill>
            <a:srgbClr val="FBF3D6"/>
          </a:solidFill>
          <a:ln>
            <a:solidFill>
              <a:srgbClr val="FBF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39" y="2532888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2514600"/>
            <a:ext cx="1298448" cy="347472"/>
          </a:xfrm>
          <a:prstGeom prst="roundRect">
            <a:avLst/>
          </a:prstGeom>
          <a:solidFill>
            <a:srgbClr val="FBF3D6"/>
          </a:solidFill>
          <a:ln>
            <a:solidFill>
              <a:srgbClr val="FBF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8144" y="2532888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Argentina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9744" y="2514600"/>
            <a:ext cx="530352" cy="347472"/>
          </a:xfrm>
          <a:prstGeom prst="roundRect">
            <a:avLst/>
          </a:prstGeom>
          <a:solidFill>
            <a:srgbClr val="FBF3D6"/>
          </a:solidFill>
          <a:ln>
            <a:solidFill>
              <a:srgbClr val="FBF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9744" y="2532888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67004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606675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6752" y="2523744"/>
            <a:ext cx="969264" cy="347472"/>
          </a:xfrm>
          <a:prstGeom prst="round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2542032"/>
            <a:ext cx="969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7873"/>
                </a:solidFill>
                <a:latin typeface="Aptos"/>
              </a:defRPr>
            </a:pPr>
            <a:r>
              <a:t>Buenos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2980944"/>
            <a:ext cx="859536" cy="347472"/>
          </a:xfrm>
          <a:prstGeom prst="round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6752" y="2999232"/>
            <a:ext cx="859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7873"/>
                </a:solidFill>
                <a:latin typeface="Aptos"/>
              </a:defRPr>
            </a:pPr>
            <a:r>
              <a:t>Aires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0690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3262D"/>
                </a:solidFill>
                <a:latin typeface="Aptos"/>
              </a:defRPr>
            </a:pPr>
            <a:r>
              <a:t>Con suficiente pista, la opcion fuerte aparece rapido.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1783080"/>
            <a:ext cx="3566160" cy="3200400"/>
          </a:xfrm>
          <a:prstGeom prst="roundRect">
            <a:avLst/>
          </a:prstGeom>
          <a:solidFill>
            <a:srgbClr val="F9E8E6"/>
          </a:solidFill>
          <a:ln w="15240">
            <a:solidFill>
              <a:srgbClr val="BF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73568" y="1993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BF5C57"/>
                </a:solidFill>
                <a:latin typeface="Aptos"/>
              </a:defRPr>
            </a:pPr>
            <a:r>
              <a:t>Contexto pobre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2560320"/>
            <a:ext cx="53035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0144" y="2578608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6974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606675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2542032"/>
            <a:ext cx="749808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2560320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algo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2542032"/>
            <a:ext cx="749808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2560320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casi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2999232"/>
            <a:ext cx="140817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3017520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3262D"/>
                </a:solidFill>
                <a:latin typeface="Aptos"/>
              </a:defRPr>
            </a:pPr>
            <a:r>
              <a:t>cualquiera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0144" y="4069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3262D"/>
                </a:solidFill>
                <a:latin typeface="Aptos"/>
              </a:defRPr>
            </a:pPr>
            <a:r>
              <a:t>Si la ventana ve poco, la incertidumbre sube mucho.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606675"/>
                </a:solidFill>
                <a:latin typeface="Aptos"/>
              </a:defRPr>
            </a:pPr>
            <a:r>
              <a:t>Usar esta diapositiva para explicar por que la ventana de contexto importa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9184"/>
            <a:ext cx="1636776" cy="310896"/>
          </a:xfrm>
          <a:prstGeom prst="roundRect">
            <a:avLst/>
          </a:prstGeom>
          <a:solidFill>
            <a:srgbClr val="F7E8E2"/>
          </a:solidFill>
          <a:ln>
            <a:solidFill>
              <a:srgbClr val="F7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636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B75D3F"/>
                </a:solidFill>
                <a:latin typeface="Aptos"/>
              </a:defRPr>
            </a:pPr>
            <a:r>
              <a:t>PROBABILIDAD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3262D"/>
                </a:solidFill>
                <a:latin typeface="Aptos Display"/>
              </a:defRPr>
            </a:pPr>
            <a:r>
              <a:t>Probabilidad y temperatura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06675"/>
                </a:solidFill>
                <a:latin typeface="Aptos"/>
              </a:defRPr>
            </a:pPr>
            <a:r>
              <a:t>Misma informacion de base. Distinto modo de repartir la salida.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24612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391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23262D"/>
                </a:solidFill>
                <a:latin typeface="Aptos"/>
              </a:defRPr>
            </a:pPr>
            <a:r>
              <a:t>temperatura baja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134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606675"/>
                </a:solidFill>
                <a:latin typeface="Aptos"/>
              </a:defRPr>
            </a:pPr>
            <a:r>
              <a:t>mas cerrada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2926079"/>
            <a:ext cx="475488" cy="1371600"/>
          </a:xfrm>
          <a:prstGeom prst="rect">
            <a:avLst/>
          </a:prstGeom>
          <a:solidFill>
            <a:srgbClr val="237873"/>
          </a:solidFill>
          <a:ln>
            <a:solidFill>
              <a:srgbClr val="23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70047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7873"/>
                </a:solidFill>
                <a:latin typeface="Aptos"/>
              </a:defRPr>
            </a:pPr>
            <a:r>
              <a:t>93%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4352543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23262D"/>
                </a:solidFill>
                <a:latin typeface="Aptos"/>
              </a:defRPr>
            </a:pPr>
            <a:r>
              <a:t>agua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4202376"/>
            <a:ext cx="475488" cy="95303"/>
          </a:xfrm>
          <a:prstGeom prst="rect">
            <a:avLst/>
          </a:prstGeom>
          <a:solidFill>
            <a:srgbClr val="CE9C31"/>
          </a:solidFill>
          <a:ln>
            <a:solidFill>
              <a:srgbClr val="CE9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3946344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CE9C31"/>
                </a:solidFill>
                <a:latin typeface="Aptos"/>
              </a:defRPr>
            </a:pPr>
            <a:r>
              <a:t>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1" y="4352543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23262D"/>
                </a:solidFill>
                <a:latin typeface="Aptos"/>
              </a:defRPr>
            </a:pPr>
            <a:r>
              <a:t>yerba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4295934"/>
            <a:ext cx="475488" cy="1745"/>
          </a:xfrm>
          <a:prstGeom prst="rect">
            <a:avLst/>
          </a:prstGeom>
          <a:solidFill>
            <a:srgbClr val="B75D3F"/>
          </a:solidFill>
          <a:ln>
            <a:solidFill>
              <a:srgbClr val="B75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403990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B75D3F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4352543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23262D"/>
                </a:solidFill>
                <a:latin typeface="Aptos"/>
              </a:defRPr>
            </a:pPr>
            <a:r>
              <a:t>hielo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1874519"/>
            <a:ext cx="324612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0391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23262D"/>
                </a:solidFill>
                <a:latin typeface="Aptos"/>
              </a:defRPr>
            </a:pPr>
            <a:r>
              <a:t>temperatura 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3134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606675"/>
                </a:solidFill>
                <a:latin typeface="Aptos"/>
              </a:defRPr>
            </a:pPr>
            <a:r>
              <a:t>equilibrio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926079"/>
            <a:ext cx="475488" cy="1371600"/>
          </a:xfrm>
          <a:prstGeom prst="rect">
            <a:avLst/>
          </a:prstGeom>
          <a:solidFill>
            <a:srgbClr val="237873"/>
          </a:solidFill>
          <a:ln>
            <a:solidFill>
              <a:srgbClr val="23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670047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7873"/>
                </a:solidFill>
                <a:latin typeface="Aptos"/>
              </a:defRPr>
            </a:pPr>
            <a:r>
              <a:t>63%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352543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23262D"/>
                </a:solidFill>
                <a:latin typeface="Aptos"/>
              </a:defRPr>
            </a:pPr>
            <a:r>
              <a:t>agua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3681380"/>
            <a:ext cx="475488" cy="616299"/>
          </a:xfrm>
          <a:prstGeom prst="rect">
            <a:avLst/>
          </a:prstGeom>
          <a:solidFill>
            <a:srgbClr val="CE9C31"/>
          </a:solidFill>
          <a:ln>
            <a:solidFill>
              <a:srgbClr val="CE9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342534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CE9C31"/>
                </a:solidFill>
                <a:latin typeface="Aptos"/>
              </a:defRPr>
            </a:pPr>
            <a:r>
              <a:t>28%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05272" y="4352543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23262D"/>
                </a:solidFill>
                <a:latin typeface="Aptos"/>
              </a:defRPr>
            </a:pPr>
            <a:r>
              <a:t>yerba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4112054"/>
            <a:ext cx="475488" cy="185625"/>
          </a:xfrm>
          <a:prstGeom prst="rect">
            <a:avLst/>
          </a:prstGeom>
          <a:solidFill>
            <a:srgbClr val="B75D3F"/>
          </a:solidFill>
          <a:ln>
            <a:solidFill>
              <a:srgbClr val="B75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85602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B75D3F"/>
                </a:solidFill>
                <a:latin typeface="Aptos"/>
              </a:defRPr>
            </a:pPr>
            <a:r>
              <a:t>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352543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23262D"/>
                </a:solidFill>
                <a:latin typeface="Aptos"/>
              </a:defRPr>
            </a:pPr>
            <a:r>
              <a:t>hielo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874519"/>
            <a:ext cx="324612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0391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23262D"/>
                </a:solidFill>
                <a:latin typeface="Aptos"/>
              </a:defRPr>
            </a:pPr>
            <a:r>
              <a:t>temperatura alta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3134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606675"/>
                </a:solidFill>
                <a:latin typeface="Aptos"/>
              </a:defRPr>
            </a:pPr>
            <a:r>
              <a:t>mas abierta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2926079"/>
            <a:ext cx="475488" cy="1371600"/>
          </a:xfrm>
          <a:prstGeom prst="rect">
            <a:avLst/>
          </a:prstGeom>
          <a:solidFill>
            <a:srgbClr val="237873"/>
          </a:solidFill>
          <a:ln>
            <a:solidFill>
              <a:srgbClr val="23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2670047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7873"/>
                </a:solidFill>
                <a:latin typeface="Aptos"/>
              </a:defRPr>
            </a:pPr>
            <a:r>
              <a:t>51%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4352543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23262D"/>
                </a:solidFill>
                <a:latin typeface="Aptos"/>
              </a:defRPr>
            </a:pPr>
            <a:r>
              <a:t>agua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3418236"/>
            <a:ext cx="475488" cy="879443"/>
          </a:xfrm>
          <a:prstGeom prst="rect">
            <a:avLst/>
          </a:prstGeom>
          <a:solidFill>
            <a:srgbClr val="CE9C31"/>
          </a:solidFill>
          <a:ln>
            <a:solidFill>
              <a:srgbClr val="CE9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59" y="3162204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CE9C31"/>
                </a:solidFill>
                <a:latin typeface="Aptos"/>
              </a:defRPr>
            </a:pPr>
            <a:r>
              <a:t>33%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4352543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23262D"/>
                </a:solidFill>
                <a:latin typeface="Aptos"/>
              </a:defRPr>
            </a:pPr>
            <a:r>
              <a:t>yerba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95560" y="3846158"/>
            <a:ext cx="475488" cy="451521"/>
          </a:xfrm>
          <a:prstGeom prst="rect">
            <a:avLst/>
          </a:prstGeom>
          <a:solidFill>
            <a:srgbClr val="B75D3F"/>
          </a:solidFill>
          <a:ln>
            <a:solidFill>
              <a:srgbClr val="B75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3590126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B75D3F"/>
                </a:solidFill>
                <a:latin typeface="Aptos"/>
              </a:defRPr>
            </a:pPr>
            <a:r>
              <a:t>17%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85832" y="4352543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23262D"/>
                </a:solidFill>
                <a:latin typeface="Aptos"/>
              </a:defRPr>
            </a:pPr>
            <a:r>
              <a:t>hielo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11680" y="5212080"/>
            <a:ext cx="8183879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40280" y="5422392"/>
            <a:ext cx="7726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3262D"/>
                </a:solidFill>
                <a:latin typeface="Aptos"/>
              </a:defRPr>
            </a:pPr>
            <a:r>
              <a:t>Mensaje docente: la temperatura no agrega conocimiento nuevo. Solo cambia como se usa la distribucion.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606675"/>
                </a:solidFill>
                <a:latin typeface="Aptos"/>
              </a:defRPr>
            </a:pPr>
            <a:r>
              <a:t>Conectar esta idea con la clase practica de prompts y sampling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9184"/>
            <a:ext cx="1527048" cy="310896"/>
          </a:xfrm>
          <a:prstGeom prst="roundRect">
            <a:avLst/>
          </a:prstGeom>
          <a:solidFill>
            <a:srgbClr val="F7E8E2"/>
          </a:solidFill>
          <a:ln>
            <a:solidFill>
              <a:srgbClr val="F7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5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B75D3F"/>
                </a:solidFill>
                <a:latin typeface="Aptos"/>
              </a:defRPr>
            </a:pPr>
            <a:r>
              <a:t>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3262D"/>
                </a:solidFill>
                <a:latin typeface="Aptos Display"/>
              </a:defRPr>
            </a:pPr>
            <a:r>
              <a:t>Transformer: un mapa de recorrido, no una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06675"/>
                </a:solidFill>
                <a:latin typeface="Aptos"/>
              </a:defRPr>
            </a:pPr>
            <a:r>
              <a:t>La meta aca es que se lleven un flujo mental claro.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1572768" cy="960120"/>
          </a:xfrm>
          <a:prstGeom prst="roundRect">
            <a:avLst/>
          </a:prstGeom>
          <a:solidFill>
            <a:srgbClr val="F7E8E2"/>
          </a:solidFill>
          <a:ln w="15240">
            <a:solidFill>
              <a:srgbClr val="B75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24942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23262D"/>
                </a:solidFill>
                <a:latin typeface="Aptos"/>
              </a:defRPr>
            </a:pPr>
            <a:r>
              <a:t>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542032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606675"/>
                </a:solidFill>
                <a:latin typeface="Aptos"/>
              </a:defRPr>
            </a:pPr>
            <a:r>
              <a:t>frase cruda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1992" y="2432304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606675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103120"/>
            <a:ext cx="1572768" cy="960120"/>
          </a:xfrm>
          <a:prstGeom prst="roundRect">
            <a:avLst/>
          </a:prstGeom>
          <a:solidFill>
            <a:srgbClr val="E4ECFA"/>
          </a:solidFill>
          <a:ln w="15240">
            <a:solidFill>
              <a:srgbClr val="4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6" y="224942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23262D"/>
                </a:solidFill>
                <a:latin typeface="Aptos"/>
              </a:defRPr>
            </a:pPr>
            <a:r>
              <a:t>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2542032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606675"/>
                </a:solidFill>
                <a:latin typeface="Aptos"/>
              </a:defRPr>
            </a:pPr>
            <a:r>
              <a:t>piezas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2" y="2432304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606675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103120"/>
            <a:ext cx="1572768" cy="960120"/>
          </a:xfrm>
          <a:prstGeom prst="roundRect">
            <a:avLst/>
          </a:prstGeom>
          <a:solidFill>
            <a:srgbClr val="FBF3D6"/>
          </a:solidFill>
          <a:ln w="15240">
            <a:solidFill>
              <a:srgbClr val="CE9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224942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23262D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542032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606675"/>
                </a:solidFill>
                <a:latin typeface="Aptos"/>
              </a:defRPr>
            </a:pPr>
            <a:r>
              <a:t>vectores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2432304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606675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103120"/>
            <a:ext cx="1572768" cy="960120"/>
          </a:xfrm>
          <a:prstGeom prst="roundRect">
            <a:avLst/>
          </a:prstGeom>
          <a:solidFill>
            <a:srgbClr val="E0F5F2"/>
          </a:solidFill>
          <a:ln w="15240">
            <a:solidFill>
              <a:srgbClr val="23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24942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23262D"/>
                </a:solidFill>
                <a:latin typeface="Aptos"/>
              </a:defRPr>
            </a:pPr>
            <a:r>
              <a:t>Attention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2542032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606675"/>
                </a:solidFill>
                <a:latin typeface="Aptos"/>
              </a:defRPr>
            </a:pPr>
            <a:r>
              <a:t>que importa 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2432304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606675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2103120"/>
            <a:ext cx="1572768" cy="960120"/>
          </a:xfrm>
          <a:prstGeom prst="roundRect">
            <a:avLst/>
          </a:prstGeom>
          <a:solidFill>
            <a:srgbClr val="F7E8E2"/>
          </a:solidFill>
          <a:ln w="15240">
            <a:solidFill>
              <a:srgbClr val="B75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3336" y="224942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23262D"/>
                </a:solidFill>
                <a:latin typeface="Aptos"/>
              </a:defRPr>
            </a:pPr>
            <a:r>
              <a:t>Feed-forward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542032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606675"/>
                </a:solidFill>
                <a:latin typeface="Aptos"/>
              </a:defRPr>
            </a:pPr>
            <a:r>
              <a:t>ajuste interno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2952" y="2432304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606675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2103120"/>
            <a:ext cx="1572768" cy="960120"/>
          </a:xfrm>
          <a:prstGeom prst="roundRect">
            <a:avLst/>
          </a:prstGeom>
          <a:solidFill>
            <a:srgbClr val="E5F4EB"/>
          </a:solidFill>
          <a:ln w="15240">
            <a:solidFill>
              <a:srgbClr val="429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3576" y="224942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23262D"/>
                </a:solidFill>
                <a:latin typeface="Aptos"/>
              </a:defRPr>
            </a:pPr>
            <a:r>
              <a:t>Salida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23576" y="2542032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606675"/>
                </a:solidFill>
                <a:latin typeface="Aptos"/>
              </a:defRPr>
            </a:pPr>
            <a:r>
              <a:t>probabilidades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4160520"/>
            <a:ext cx="3337560" cy="1097280"/>
          </a:xfrm>
          <a:prstGeom prst="roundRect">
            <a:avLst/>
          </a:prstGeom>
          <a:solidFill>
            <a:srgbClr val="FBF3D6"/>
          </a:solidFill>
          <a:ln w="15240">
            <a:solidFill>
              <a:srgbClr val="CE9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5" y="435254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CE9C31"/>
                </a:solidFill>
                <a:latin typeface="Aptos"/>
              </a:defRPr>
            </a:pPr>
            <a:r>
              <a:t>Posicion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5" y="4636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23262D"/>
                </a:solidFill>
                <a:latin typeface="Aptos"/>
              </a:defRPr>
            </a:pPr>
            <a:r>
              <a:t>Sin orden, el modelo veria piezas pero no secuencia.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160520"/>
            <a:ext cx="3337560" cy="1097280"/>
          </a:xfrm>
          <a:prstGeom prst="roundRect">
            <a:avLst/>
          </a:prstGeom>
          <a:solidFill>
            <a:srgbClr val="E0F5F2"/>
          </a:solidFill>
          <a:ln w="15240">
            <a:solidFill>
              <a:srgbClr val="23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6008" y="435254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237873"/>
                </a:solidFill>
                <a:latin typeface="Aptos"/>
              </a:defRPr>
            </a:pPr>
            <a:r>
              <a:t>Attention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8" y="4636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23262D"/>
                </a:solidFill>
                <a:latin typeface="Aptos"/>
              </a:defRPr>
            </a:pPr>
            <a:r>
              <a:t>No todos los tokens previos pesan igual en cada paso.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28431" y="4160520"/>
            <a:ext cx="3337560" cy="1097280"/>
          </a:xfrm>
          <a:prstGeom prst="roundRect">
            <a:avLst/>
          </a:prstGeom>
          <a:solidFill>
            <a:srgbClr val="F7E8E2"/>
          </a:solidFill>
          <a:ln w="15240">
            <a:solidFill>
              <a:srgbClr val="B75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3525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B75D3F"/>
                </a:solidFill>
                <a:latin typeface="Aptos"/>
              </a:defRPr>
            </a:pPr>
            <a:r>
              <a:t>Que no hace falta hoy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636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23262D"/>
                </a:solidFill>
                <a:latin typeface="Aptos"/>
              </a:defRPr>
            </a:pPr>
            <a:r>
              <a:t>No hundirse en Q, K y V si todavia no fijaron la intuicion.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606675"/>
                </a:solidFill>
                <a:latin typeface="Aptos"/>
              </a:defRPr>
            </a:pPr>
            <a:r>
              <a:t>Si entienden este recorrido, la formula puede venir despues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9184"/>
            <a:ext cx="1325880" cy="310896"/>
          </a:xfrm>
          <a:prstGeom prst="roundRect">
            <a:avLst/>
          </a:prstGeom>
          <a:solidFill>
            <a:srgbClr val="F7E8E2"/>
          </a:solidFill>
          <a:ln>
            <a:solidFill>
              <a:srgbClr val="F7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B75D3F"/>
                </a:solidFill>
                <a:latin typeface="Aptos"/>
              </a:defRPr>
            </a:pPr>
            <a:r>
              <a:t>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3262D"/>
                </a:solidFill>
                <a:latin typeface="Aptos Display"/>
              </a:defRPr>
            </a:pPr>
            <a:r>
              <a:t>Cuantizacion y llama.cpp: por que esto baja a una compu 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06675"/>
                </a:solidFill>
                <a:latin typeface="Aptos"/>
              </a:defRPr>
            </a:pPr>
            <a:r>
              <a:t>La comparacion visual ayuda mucho mas que una definicion larga.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783080"/>
            <a:ext cx="640080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3262D"/>
                </a:solidFill>
                <a:latin typeface="Aptos"/>
              </a:defRPr>
            </a:pPr>
            <a:r>
              <a:t>Mismo modelo 7B, distinta huella de memoria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243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3262D"/>
                </a:solidFill>
                <a:latin typeface="Aptos"/>
              </a:defRPr>
            </a:pPr>
            <a:r>
              <a:t>FP16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651760"/>
            <a:ext cx="4114800" cy="201168"/>
          </a:xfrm>
          <a:prstGeom prst="roundRect">
            <a:avLst/>
          </a:prstGeom>
          <a:solidFill>
            <a:srgbClr val="F9F5EC"/>
          </a:solidFill>
          <a:ln>
            <a:solidFill>
              <a:srgbClr val="F9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31720" y="2651760"/>
            <a:ext cx="4114800" cy="201168"/>
          </a:xfrm>
          <a:prstGeom prst="roundRect">
            <a:avLst/>
          </a:prstGeom>
          <a:solidFill>
            <a:srgbClr val="BF5C57"/>
          </a:solidFill>
          <a:ln>
            <a:solidFill>
              <a:srgbClr val="BF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63347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0">
                <a:solidFill>
                  <a:srgbClr val="606675"/>
                </a:solidFill>
                <a:latin typeface="Aptos"/>
              </a:defRPr>
            </a:pPr>
            <a:r>
              <a:t>13.0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272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3262D"/>
                </a:solidFill>
                <a:latin typeface="Aptos"/>
              </a:defRPr>
            </a:pPr>
            <a:r>
              <a:t>INT8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3154680"/>
            <a:ext cx="4114800" cy="201168"/>
          </a:xfrm>
          <a:prstGeom prst="roundRect">
            <a:avLst/>
          </a:prstGeom>
          <a:solidFill>
            <a:srgbClr val="F9F5EC"/>
          </a:solidFill>
          <a:ln>
            <a:solidFill>
              <a:srgbClr val="F9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31720" y="3154680"/>
            <a:ext cx="2057400" cy="201168"/>
          </a:xfrm>
          <a:prstGeom prst="roundRect">
            <a:avLst/>
          </a:prstGeom>
          <a:solidFill>
            <a:srgbClr val="4A66AD"/>
          </a:solidFill>
          <a:ln>
            <a:solidFill>
              <a:srgbClr val="4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13639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0">
                <a:solidFill>
                  <a:srgbClr val="606675"/>
                </a:solidFill>
                <a:latin typeface="Aptos"/>
              </a:defRPr>
            </a:pPr>
            <a:r>
              <a:t>6.5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301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3262D"/>
                </a:solidFill>
                <a:latin typeface="Aptos"/>
              </a:defRPr>
            </a:pPr>
            <a:r>
              <a:t>INT4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3657600"/>
            <a:ext cx="4114800" cy="201168"/>
          </a:xfrm>
          <a:prstGeom prst="roundRect">
            <a:avLst/>
          </a:prstGeom>
          <a:solidFill>
            <a:srgbClr val="F9F5EC"/>
          </a:solidFill>
          <a:ln>
            <a:solidFill>
              <a:srgbClr val="F9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31720" y="3657600"/>
            <a:ext cx="1044526" cy="201168"/>
          </a:xfrm>
          <a:prstGeom prst="roundRect">
            <a:avLst/>
          </a:prstGeom>
          <a:solidFill>
            <a:srgbClr val="237873"/>
          </a:solidFill>
          <a:ln>
            <a:solidFill>
              <a:srgbClr val="23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63931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100" b="0">
                <a:solidFill>
                  <a:srgbClr val="606675"/>
                </a:solidFill>
                <a:latin typeface="Aptos"/>
              </a:defRPr>
            </a:pPr>
            <a:r>
              <a:t>3.3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50" b="0">
                <a:solidFill>
                  <a:srgbClr val="23262D"/>
                </a:solidFill>
                <a:latin typeface="Aptos"/>
              </a:defRPr>
            </a:pPr>
            <a:r>
              <a:t>Cuantizar = usar menos bits por parametro para que el modelo pese menos y pida menos RAM.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783080"/>
            <a:ext cx="3794760" cy="1481328"/>
          </a:xfrm>
          <a:prstGeom prst="roundRect">
            <a:avLst/>
          </a:prstGeom>
          <a:solidFill>
            <a:srgbClr val="F9E8E6"/>
          </a:solidFill>
          <a:ln w="15240">
            <a:solidFill>
              <a:srgbClr val="BF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54112" y="197510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BF5C57"/>
                </a:solidFill>
                <a:latin typeface="Aptos"/>
              </a:defRPr>
            </a:pPr>
            <a:r>
              <a:t>API remota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2340864"/>
            <a:ext cx="1856231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359152"/>
            <a:ext cx="18562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262D"/>
                </a:solidFill>
                <a:latin typeface="Aptos"/>
              </a:defRPr>
            </a:pPr>
            <a:r>
              <a:t>costo variable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2340864"/>
            <a:ext cx="1746504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359152"/>
            <a:ext cx="1746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262D"/>
                </a:solidFill>
                <a:latin typeface="Aptos"/>
              </a:defRPr>
            </a:pPr>
            <a:r>
              <a:t>menos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2724912"/>
            <a:ext cx="19659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74320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262D"/>
                </a:solidFill>
                <a:latin typeface="Aptos"/>
              </a:defRPr>
            </a:pPr>
            <a:r>
              <a:t>arranque rapido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3685032"/>
            <a:ext cx="3794760" cy="1481328"/>
          </a:xfrm>
          <a:prstGeom prst="roundRect">
            <a:avLst/>
          </a:prstGeom>
          <a:solidFill>
            <a:srgbClr val="E0F5F2"/>
          </a:solidFill>
          <a:ln w="15240">
            <a:solidFill>
              <a:srgbClr val="23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3877056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37873"/>
                </a:solidFill>
                <a:latin typeface="Aptos"/>
              </a:defRPr>
            </a:pPr>
            <a:r>
              <a:t>llama.cpp local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4242816"/>
            <a:ext cx="1856231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4261103"/>
            <a:ext cx="18562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262D"/>
                </a:solidFill>
                <a:latin typeface="Aptos"/>
              </a:defRPr>
            </a:pPr>
            <a:r>
              <a:t>mas privacidad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4242816"/>
            <a:ext cx="1636776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4261103"/>
            <a:ext cx="1636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262D"/>
                </a:solidFill>
                <a:latin typeface="Aptos"/>
              </a:defRPr>
            </a:pPr>
            <a:r>
              <a:t>GGUF liviano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626864"/>
            <a:ext cx="2075688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4645151"/>
            <a:ext cx="2075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262D"/>
                </a:solidFill>
                <a:latin typeface="Aptos"/>
              </a:defRPr>
            </a:pPr>
            <a:r>
              <a:t>ideal para clase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606675"/>
                </a:solidFill>
                <a:latin typeface="Aptos"/>
              </a:defRPr>
            </a:pPr>
            <a:r>
              <a:t>Esta es la bisagra conceptual para pasar a la clase practica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E9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9184"/>
            <a:ext cx="1325880" cy="310896"/>
          </a:xfrm>
          <a:prstGeom prst="roundRect">
            <a:avLst/>
          </a:prstGeom>
          <a:solidFill>
            <a:srgbClr val="F7E8E2"/>
          </a:solidFill>
          <a:ln>
            <a:solidFill>
              <a:srgbClr val="F7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B75D3F"/>
                </a:solidFill>
                <a:latin typeface="Aptos"/>
              </a:defRPr>
            </a:pPr>
            <a:r>
              <a:t>RITMO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3262D"/>
                </a:solidFill>
                <a:latin typeface="Aptos Display"/>
              </a:defRPr>
            </a:pPr>
            <a:r>
              <a:t>Guion visual de la 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06675"/>
                </a:solidFill>
                <a:latin typeface="Aptos"/>
              </a:defRPr>
            </a:pPr>
            <a:r>
              <a:t>En vez de recorrer definiciones en fila, usar una secuencia corta de escenas.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167128"/>
            <a:ext cx="9921240" cy="45720"/>
          </a:xfrm>
          <a:prstGeom prst="rect">
            <a:avLst/>
          </a:prstGeom>
          <a:solidFill>
            <a:srgbClr val="E4ECFA"/>
          </a:solidFill>
          <a:ln>
            <a:solidFill>
              <a:srgbClr val="E4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1965960"/>
            <a:ext cx="402336" cy="402336"/>
          </a:xfrm>
          <a:prstGeom prst="ellipse">
            <a:avLst/>
          </a:prstGeom>
          <a:solidFill>
            <a:srgbClr val="B75D3F"/>
          </a:solidFill>
          <a:ln>
            <a:solidFill>
              <a:srgbClr val="B75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46888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B75D3F"/>
                </a:solidFill>
                <a:latin typeface="Aptos"/>
              </a:defRPr>
            </a:pPr>
            <a:r>
              <a:t>0-5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67919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23262D"/>
                </a:solidFill>
                <a:latin typeface="Aptos"/>
              </a:defRPr>
            </a:pPr>
            <a:r>
              <a:t>intuicion</a:t>
            </a:r>
          </a:p>
        </p:txBody>
      </p:sp>
      <p:sp>
        <p:nvSpPr>
          <p:cNvPr id="11" name="Oval 10"/>
          <p:cNvSpPr/>
          <p:nvPr/>
        </p:nvSpPr>
        <p:spPr>
          <a:xfrm>
            <a:off x="2825496" y="1965960"/>
            <a:ext cx="402336" cy="402336"/>
          </a:xfrm>
          <a:prstGeom prst="ellipse">
            <a:avLst/>
          </a:prstGeom>
          <a:solidFill>
            <a:srgbClr val="4A66AD"/>
          </a:solidFill>
          <a:ln>
            <a:solidFill>
              <a:srgbClr val="4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46888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4A66AD"/>
                </a:solidFill>
                <a:latin typeface="Aptos"/>
              </a:defRPr>
            </a:pPr>
            <a:r>
              <a:t>5-15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267919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23262D"/>
                </a:solidFill>
                <a:latin typeface="Aptos"/>
              </a:defRPr>
            </a:pPr>
            <a:r>
              <a:t>tokens</a:t>
            </a:r>
          </a:p>
        </p:txBody>
      </p:sp>
      <p:sp>
        <p:nvSpPr>
          <p:cNvPr id="14" name="Oval 13"/>
          <p:cNvSpPr/>
          <p:nvPr/>
        </p:nvSpPr>
        <p:spPr>
          <a:xfrm>
            <a:off x="4809744" y="1965960"/>
            <a:ext cx="402336" cy="402336"/>
          </a:xfrm>
          <a:prstGeom prst="ellipse">
            <a:avLst/>
          </a:prstGeom>
          <a:solidFill>
            <a:srgbClr val="CE9C31"/>
          </a:solidFill>
          <a:ln>
            <a:solidFill>
              <a:srgbClr val="CE9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46888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CE9C31"/>
                </a:solidFill>
                <a:latin typeface="Aptos"/>
              </a:defRPr>
            </a:pPr>
            <a:r>
              <a:t>15-25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267919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23262D"/>
                </a:solidFill>
                <a:latin typeface="Aptos"/>
              </a:defRPr>
            </a:pPr>
            <a:r>
              <a:t>contexto</a:t>
            </a:r>
          </a:p>
        </p:txBody>
      </p:sp>
      <p:sp>
        <p:nvSpPr>
          <p:cNvPr id="17" name="Oval 16"/>
          <p:cNvSpPr/>
          <p:nvPr/>
        </p:nvSpPr>
        <p:spPr>
          <a:xfrm>
            <a:off x="6793992" y="1965960"/>
            <a:ext cx="402336" cy="402336"/>
          </a:xfrm>
          <a:prstGeom prst="ellipse">
            <a:avLst/>
          </a:prstGeom>
          <a:solidFill>
            <a:srgbClr val="237873"/>
          </a:solidFill>
          <a:ln>
            <a:solidFill>
              <a:srgbClr val="23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246888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7873"/>
                </a:solidFill>
                <a:latin typeface="Aptos"/>
              </a:defRPr>
            </a:pPr>
            <a:r>
              <a:t>25-35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67919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23262D"/>
                </a:solidFill>
                <a:latin typeface="Aptos"/>
              </a:defRPr>
            </a:pPr>
            <a:r>
              <a:t>prob + temp</a:t>
            </a:r>
          </a:p>
        </p:txBody>
      </p:sp>
      <p:sp>
        <p:nvSpPr>
          <p:cNvPr id="20" name="Oval 19"/>
          <p:cNvSpPr/>
          <p:nvPr/>
        </p:nvSpPr>
        <p:spPr>
          <a:xfrm>
            <a:off x="8778240" y="1965960"/>
            <a:ext cx="402336" cy="402336"/>
          </a:xfrm>
          <a:prstGeom prst="ellipse">
            <a:avLst/>
          </a:prstGeom>
          <a:solidFill>
            <a:srgbClr val="B75D3F"/>
          </a:solidFill>
          <a:ln>
            <a:solidFill>
              <a:srgbClr val="B75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246888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B75D3F"/>
                </a:solidFill>
                <a:latin typeface="Aptos"/>
              </a:defRPr>
            </a:pPr>
            <a:r>
              <a:t>35-45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67919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23262D"/>
                </a:solidFill>
                <a:latin typeface="Aptos"/>
              </a:defRPr>
            </a:pPr>
            <a:r>
              <a:t>transformer</a:t>
            </a:r>
          </a:p>
        </p:txBody>
      </p:sp>
      <p:sp>
        <p:nvSpPr>
          <p:cNvPr id="23" name="Oval 22"/>
          <p:cNvSpPr/>
          <p:nvPr/>
        </p:nvSpPr>
        <p:spPr>
          <a:xfrm>
            <a:off x="10762488" y="1965960"/>
            <a:ext cx="402336" cy="402336"/>
          </a:xfrm>
          <a:prstGeom prst="ellipse">
            <a:avLst/>
          </a:prstGeom>
          <a:solidFill>
            <a:srgbClr val="429162"/>
          </a:solidFill>
          <a:ln>
            <a:solidFill>
              <a:srgbClr val="429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43032" y="246888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429162"/>
                </a:solidFill>
                <a:latin typeface="Aptos"/>
              </a:defRPr>
            </a:pPr>
            <a:r>
              <a:t>45-60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7" y="267919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23262D"/>
                </a:solidFill>
                <a:latin typeface="Aptos"/>
              </a:defRPr>
            </a:pPr>
            <a:r>
              <a:t>local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3657600"/>
            <a:ext cx="3246120" cy="1463040"/>
          </a:xfrm>
          <a:prstGeom prst="roundRect">
            <a:avLst/>
          </a:prstGeom>
          <a:solidFill>
            <a:srgbClr val="F7E8E2"/>
          </a:solidFill>
          <a:ln w="15240">
            <a:solidFill>
              <a:srgbClr val="B75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8587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B75D3F"/>
                </a:solidFill>
                <a:latin typeface="Aptos"/>
              </a:defRPr>
            </a:pPr>
            <a:r>
              <a:t>Primera parada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169663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23262D"/>
                </a:solidFill>
                <a:latin typeface="Aptos"/>
              </a:defRPr>
            </a:pPr>
            <a:r>
              <a:t>Hacer que repitan la idea de siguiente token antes de definir nada.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657600"/>
            <a:ext cx="3246120" cy="1463040"/>
          </a:xfrm>
          <a:prstGeom prst="roundRect">
            <a:avLst/>
          </a:prstGeom>
          <a:solidFill>
            <a:srgbClr val="E4ECFA"/>
          </a:solidFill>
          <a:ln w="15240">
            <a:solidFill>
              <a:srgbClr val="4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385876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4A66AD"/>
                </a:solidFill>
                <a:latin typeface="Aptos"/>
              </a:defRPr>
            </a:pPr>
            <a:r>
              <a:t>Segunda parada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169663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23262D"/>
                </a:solidFill>
                <a:latin typeface="Aptos"/>
              </a:defRPr>
            </a:pPr>
            <a:r>
              <a:t>Mostrar una sola frase partida de tres maneras y preguntar que cambia.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657600"/>
            <a:ext cx="3246120" cy="1463040"/>
          </a:xfrm>
          <a:prstGeom prst="roundRect">
            <a:avLst/>
          </a:prstGeom>
          <a:solidFill>
            <a:srgbClr val="E0F5F2"/>
          </a:solidFill>
          <a:ln w="15240">
            <a:solidFill>
              <a:srgbClr val="23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8587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237873"/>
                </a:solidFill>
                <a:latin typeface="Aptos"/>
              </a:defRPr>
            </a:pPr>
            <a:r>
              <a:t>Ultima parada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169663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23262D"/>
                </a:solidFill>
                <a:latin typeface="Aptos"/>
              </a:defRPr>
            </a:pPr>
            <a:r>
              <a:t>Cerrar enlazando cuantizacion con la practica local de la clase siguiente.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606675"/>
                </a:solidFill>
                <a:latin typeface="Aptos"/>
              </a:defRPr>
            </a:pPr>
            <a:r>
              <a:t>La clase mejora mucho si cada bloque deja una imagen facil de recordar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329184"/>
            <a:ext cx="1325880" cy="310896"/>
          </a:xfrm>
          <a:prstGeom prst="roundRect">
            <a:avLst/>
          </a:prstGeom>
          <a:solidFill>
            <a:srgbClr val="F7E8E2"/>
          </a:solidFill>
          <a:ln>
            <a:solidFill>
              <a:srgbClr val="F7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B75D3F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3262D"/>
                </a:solidFill>
                <a:latin typeface="Aptos Display"/>
              </a:defRPr>
            </a:pPr>
            <a:r>
              <a:t>Chequeo de salida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606675"/>
                </a:solidFill>
                <a:latin typeface="Aptos"/>
              </a:defRPr>
            </a:pPr>
            <a:r>
              <a:t>Si al final dicen estas tres frases con sus palabras, la base quedo bien plantada.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926080" cy="2240280"/>
          </a:xfrm>
          <a:prstGeom prst="roundRect">
            <a:avLst/>
          </a:prstGeom>
          <a:solidFill>
            <a:srgbClr val="F7E8E2"/>
          </a:solidFill>
          <a:ln w="15240">
            <a:solidFill>
              <a:srgbClr val="B75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340864"/>
            <a:ext cx="2514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23262D"/>
                </a:solidFill>
                <a:latin typeface="Aptos"/>
              </a:defRPr>
            </a:pPr>
            <a:r>
              <a:t>Un LLM predice el siguiente token, no responde por magia.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965960"/>
            <a:ext cx="2926080" cy="2240280"/>
          </a:xfrm>
          <a:prstGeom prst="roundRect">
            <a:avLst/>
          </a:prstGeom>
          <a:solidFill>
            <a:srgbClr val="E4ECFA"/>
          </a:solidFill>
          <a:ln w="15240">
            <a:solidFill>
              <a:srgbClr val="4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2340864"/>
            <a:ext cx="2514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23262D"/>
                </a:solidFill>
                <a:latin typeface="Aptos"/>
              </a:defRPr>
            </a:pPr>
            <a:r>
              <a:t>Token no siempre es palabra: depende de como partimos el texto.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965960"/>
            <a:ext cx="2926080" cy="2240280"/>
          </a:xfrm>
          <a:prstGeom prst="roundRect">
            <a:avLst/>
          </a:prstGeom>
          <a:solidFill>
            <a:srgbClr val="E0F5F2"/>
          </a:solidFill>
          <a:ln w="15240">
            <a:solidFill>
              <a:srgbClr val="23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2088" y="2340864"/>
            <a:ext cx="2514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23262D"/>
                </a:solidFill>
                <a:latin typeface="Aptos"/>
              </a:defRPr>
            </a:pPr>
            <a:r>
              <a:t>llama.cpp importa porque vuelve local y usable lo que hoy vimos en teoria.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" y="4800600"/>
            <a:ext cx="103327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505663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606675"/>
                </a:solidFill>
                <a:latin typeface="Aptos"/>
              </a:defRPr>
            </a:pPr>
            <a:r>
              <a:t>Confusiones para cortar en el momento: piensa como humano | token = palabra | temperatura = mas inteligencia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606675"/>
                </a:solidFill>
                <a:latin typeface="Aptos"/>
              </a:defRPr>
            </a:pPr>
            <a:r>
              <a:t>Fin del deck | menos enumeracion, mas referencias para senalar en clase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